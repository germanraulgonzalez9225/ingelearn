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806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867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Relationship Id="rId9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1.sv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5.png"/><Relationship Id="rId10" Type="http://schemas.openxmlformats.org/officeDocument/2006/relationships/image" Target="../media/image14.jpeg"/><Relationship Id="rId4" Type="http://schemas.openxmlformats.org/officeDocument/2006/relationships/image" Target="../media/image2.svg"/><Relationship Id="rId9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alphaModFix amt="8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011680"/>
            <a:ext cx="6035040" cy="420624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Shape 1"/>
          <p:cNvSpPr/>
          <p:nvPr/>
        </p:nvSpPr>
        <p:spPr>
          <a:xfrm>
            <a:off x="-1737360" y="-1737360"/>
            <a:ext cx="4023360" cy="4023360"/>
          </a:xfrm>
          <a:prstGeom prst="ellipse">
            <a:avLst/>
          </a:prstGeom>
          <a:solidFill>
            <a:srgbClr val="2E7BC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Shape 2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3FC1C9">
              <a:alpha val="85000"/>
            </a:srgbClr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alphaModFix amt="9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37160" y="-137160"/>
            <a:ext cx="2743200" cy="2130552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07040" y="1097280"/>
            <a:ext cx="3840480" cy="2990088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100000">
            <a:off x="10972800" y="4206240"/>
            <a:ext cx="3291840" cy="2560320"/>
          </a:xfrm>
          <a:prstGeom prst="rect">
            <a:avLst/>
          </a:prstGeom>
        </p:spPr>
      </p:pic>
      <p:pic>
        <p:nvPicPr>
          <p:cNvPr id="9" name="Image 4" descr="/home/claude/leccion_intro/logo-ingelearn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811512" y="411480"/>
            <a:ext cx="1828800" cy="713232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822960" y="6492240"/>
            <a:ext cx="82296" cy="82296"/>
          </a:xfrm>
          <a:prstGeom prst="ellipse">
            <a:avLst/>
          </a:prstGeom>
          <a:solidFill>
            <a:srgbClr val="D7DEE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" name="Shape 4"/>
          <p:cNvSpPr/>
          <p:nvPr/>
        </p:nvSpPr>
        <p:spPr>
          <a:xfrm>
            <a:off x="1024128" y="6492240"/>
            <a:ext cx="82296" cy="82296"/>
          </a:xfrm>
          <a:prstGeom prst="ellipse">
            <a:avLst/>
          </a:prstGeom>
          <a:solidFill>
            <a:srgbClr val="3FC1C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Shape 5"/>
          <p:cNvSpPr/>
          <p:nvPr/>
        </p:nvSpPr>
        <p:spPr>
          <a:xfrm>
            <a:off x="1225296" y="6492240"/>
            <a:ext cx="82296" cy="82296"/>
          </a:xfrm>
          <a:prstGeom prst="ellipse">
            <a:avLst/>
          </a:prstGeom>
          <a:solidFill>
            <a:srgbClr val="D7DEE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Shape 6"/>
          <p:cNvSpPr/>
          <p:nvPr/>
        </p:nvSpPr>
        <p:spPr>
          <a:xfrm>
            <a:off x="1426464" y="6492240"/>
            <a:ext cx="82296" cy="82296"/>
          </a:xfrm>
          <a:prstGeom prst="ellipse">
            <a:avLst/>
          </a:prstGeom>
          <a:solidFill>
            <a:srgbClr val="D7DEE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4" name="Shape 7"/>
          <p:cNvSpPr/>
          <p:nvPr/>
        </p:nvSpPr>
        <p:spPr>
          <a:xfrm>
            <a:off x="1627632" y="6492240"/>
            <a:ext cx="82296" cy="82296"/>
          </a:xfrm>
          <a:prstGeom prst="ellipse">
            <a:avLst/>
          </a:prstGeom>
          <a:solidFill>
            <a:srgbClr val="D7DEE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5" name="Text 8"/>
          <p:cNvSpPr/>
          <p:nvPr/>
        </p:nvSpPr>
        <p:spPr>
          <a:xfrm>
            <a:off x="274109" y="2485848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600" b="1" i="1" dirty="0">
                <a:solidFill>
                  <a:srgbClr val="1B4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LA</a:t>
            </a:r>
            <a:endParaRPr lang="en-US" sz="2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2600" b="1" i="1" dirty="0">
                <a:solidFill>
                  <a:srgbClr val="1B4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ELECTRÓNICA?</a:t>
            </a:r>
            <a:endParaRPr lang="en-US" sz="2600" dirty="0"/>
          </a:p>
        </p:txBody>
      </p:sp>
      <p:sp>
        <p:nvSpPr>
          <p:cNvPr id="16" name="Text 9"/>
          <p:cNvSpPr/>
          <p:nvPr/>
        </p:nvSpPr>
        <p:spPr>
          <a:xfrm>
            <a:off x="822960" y="3520440"/>
            <a:ext cx="5029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s-AR" sz="2400" b="1" dirty="0">
                <a:solidFill>
                  <a:srgbClr val="1B4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electrónica es la ciencia que controla la electricidad para que los dispositivos cumplan su función.</a:t>
            </a:r>
            <a:endParaRPr lang="en-US" sz="16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2360" y="1325880"/>
            <a:ext cx="3566160" cy="2770632"/>
          </a:xfrm>
          <a:prstGeom prst="rect">
            <a:avLst/>
          </a:prstGeom>
        </p:spPr>
      </p:pic>
      <p:sp>
        <p:nvSpPr>
          <p:cNvPr id="26" name="Shape 11">
            <a:extLst>
              <a:ext uri="{FF2B5EF4-FFF2-40B4-BE49-F238E27FC236}">
                <a16:creationId xmlns:a16="http://schemas.microsoft.com/office/drawing/2014/main" id="{8A2AFF16-C9A6-312D-B63F-F1D0FD7CF024}"/>
              </a:ext>
            </a:extLst>
          </p:cNvPr>
          <p:cNvSpPr/>
          <p:nvPr/>
        </p:nvSpPr>
        <p:spPr>
          <a:xfrm>
            <a:off x="6238300" y="1810512"/>
            <a:ext cx="4526280" cy="3374136"/>
          </a:xfrm>
          <a:prstGeom prst="roundRect">
            <a:avLst>
              <a:gd name="adj" fmla="val 4444"/>
            </a:avLst>
          </a:prstGeom>
          <a:solidFill>
            <a:srgbClr val="EAF1F5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24" name="Imagen 23" descr="Detalle de componentes de pcb de placa de circuito electrónico y un ...">
            <a:extLst>
              <a:ext uri="{FF2B5EF4-FFF2-40B4-BE49-F238E27FC236}">
                <a16:creationId xmlns:a16="http://schemas.microsoft.com/office/drawing/2014/main" id="{6F68D0B8-80F8-3A31-B890-833E1E56864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0981" y="2204173"/>
            <a:ext cx="3949786" cy="26325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alphaModFix amt="8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011680"/>
            <a:ext cx="6035040" cy="420624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Shape 1"/>
          <p:cNvSpPr/>
          <p:nvPr/>
        </p:nvSpPr>
        <p:spPr>
          <a:xfrm>
            <a:off x="-1737360" y="-1737360"/>
            <a:ext cx="4023360" cy="4023360"/>
          </a:xfrm>
          <a:prstGeom prst="ellipse">
            <a:avLst/>
          </a:prstGeom>
          <a:solidFill>
            <a:srgbClr val="2E7BC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Shape 2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3FC1C9">
              <a:alpha val="85000"/>
            </a:srgbClr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alphaModFix amt="9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37160" y="-137160"/>
            <a:ext cx="2743200" cy="2130552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07040" y="1097280"/>
            <a:ext cx="3840480" cy="2990088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100000">
            <a:off x="10972800" y="4206240"/>
            <a:ext cx="3291840" cy="2560320"/>
          </a:xfrm>
          <a:prstGeom prst="rect">
            <a:avLst/>
          </a:prstGeom>
        </p:spPr>
      </p:pic>
      <p:pic>
        <p:nvPicPr>
          <p:cNvPr id="9" name="Image 4" descr="/home/claude/leccion_intro/logo-ingelearn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811512" y="411480"/>
            <a:ext cx="1828800" cy="713232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822960" y="6492240"/>
            <a:ext cx="82296" cy="82296"/>
          </a:xfrm>
          <a:prstGeom prst="ellipse">
            <a:avLst/>
          </a:prstGeom>
          <a:solidFill>
            <a:srgbClr val="D7DEE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" name="Shape 4"/>
          <p:cNvSpPr/>
          <p:nvPr/>
        </p:nvSpPr>
        <p:spPr>
          <a:xfrm>
            <a:off x="1024128" y="6492240"/>
            <a:ext cx="82296" cy="82296"/>
          </a:xfrm>
          <a:prstGeom prst="ellipse">
            <a:avLst/>
          </a:prstGeom>
          <a:solidFill>
            <a:srgbClr val="D7DEE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Shape 5"/>
          <p:cNvSpPr/>
          <p:nvPr/>
        </p:nvSpPr>
        <p:spPr>
          <a:xfrm>
            <a:off x="1225296" y="6492240"/>
            <a:ext cx="82296" cy="82296"/>
          </a:xfrm>
          <a:prstGeom prst="ellipse">
            <a:avLst/>
          </a:prstGeom>
          <a:solidFill>
            <a:srgbClr val="3FC1C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Shape 6"/>
          <p:cNvSpPr/>
          <p:nvPr/>
        </p:nvSpPr>
        <p:spPr>
          <a:xfrm>
            <a:off x="1426464" y="6492240"/>
            <a:ext cx="82296" cy="82296"/>
          </a:xfrm>
          <a:prstGeom prst="ellipse">
            <a:avLst/>
          </a:prstGeom>
          <a:solidFill>
            <a:srgbClr val="D7DEE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4" name="Shape 7"/>
          <p:cNvSpPr/>
          <p:nvPr/>
        </p:nvSpPr>
        <p:spPr>
          <a:xfrm>
            <a:off x="1627632" y="6492240"/>
            <a:ext cx="82296" cy="82296"/>
          </a:xfrm>
          <a:prstGeom prst="ellipse">
            <a:avLst/>
          </a:prstGeom>
          <a:solidFill>
            <a:srgbClr val="D7DEE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5" name="Text 8"/>
          <p:cNvSpPr/>
          <p:nvPr/>
        </p:nvSpPr>
        <p:spPr>
          <a:xfrm>
            <a:off x="2856349" y="521209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600" b="1" i="1" dirty="0">
                <a:solidFill>
                  <a:srgbClr val="1B4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POCO DE</a:t>
            </a:r>
            <a:endParaRPr lang="en-US" sz="2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2600" b="1" i="1" dirty="0">
                <a:solidFill>
                  <a:srgbClr val="1B4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</a:t>
            </a:r>
            <a:endParaRPr lang="en-US" sz="26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2360" y="1325880"/>
            <a:ext cx="3566160" cy="2770632"/>
          </a:xfrm>
          <a:prstGeom prst="rect">
            <a:avLst/>
          </a:prstGeom>
        </p:spPr>
      </p:pic>
      <p:sp>
        <p:nvSpPr>
          <p:cNvPr id="23" name="Shape 11">
            <a:extLst>
              <a:ext uri="{FF2B5EF4-FFF2-40B4-BE49-F238E27FC236}">
                <a16:creationId xmlns:a16="http://schemas.microsoft.com/office/drawing/2014/main" id="{04BF5A20-9A17-A046-785C-1DAF61E417B4}"/>
              </a:ext>
            </a:extLst>
          </p:cNvPr>
          <p:cNvSpPr/>
          <p:nvPr/>
        </p:nvSpPr>
        <p:spPr>
          <a:xfrm>
            <a:off x="2199588" y="1911098"/>
            <a:ext cx="7915373" cy="4280340"/>
          </a:xfrm>
          <a:prstGeom prst="roundRect">
            <a:avLst>
              <a:gd name="adj" fmla="val 4444"/>
            </a:avLst>
          </a:prstGeom>
          <a:solidFill>
            <a:srgbClr val="EAF1F5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FA59267D-DBB6-D75C-B326-E1D504A5FF3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6000" y="1978040"/>
            <a:ext cx="7706412" cy="421339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alphaModFix amt="8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011680"/>
            <a:ext cx="6035040" cy="420624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Shape 1"/>
          <p:cNvSpPr/>
          <p:nvPr/>
        </p:nvSpPr>
        <p:spPr>
          <a:xfrm>
            <a:off x="-1737360" y="-1737360"/>
            <a:ext cx="4023360" cy="4023360"/>
          </a:xfrm>
          <a:prstGeom prst="ellipse">
            <a:avLst/>
          </a:prstGeom>
          <a:solidFill>
            <a:srgbClr val="2E7BC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Shape 2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3FC1C9">
              <a:alpha val="85000"/>
            </a:srgbClr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alphaModFix amt="9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37160" y="-137160"/>
            <a:ext cx="2743200" cy="2130552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07040" y="1097280"/>
            <a:ext cx="3840480" cy="2990088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100000">
            <a:off x="10972800" y="4206240"/>
            <a:ext cx="3291840" cy="2560320"/>
          </a:xfrm>
          <a:prstGeom prst="rect">
            <a:avLst/>
          </a:prstGeom>
        </p:spPr>
      </p:pic>
      <p:pic>
        <p:nvPicPr>
          <p:cNvPr id="9" name="Image 4" descr="/home/claude/leccion_intro/logo-ingelearn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811512" y="411480"/>
            <a:ext cx="1828800" cy="713232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822960" y="6492240"/>
            <a:ext cx="82296" cy="82296"/>
          </a:xfrm>
          <a:prstGeom prst="ellipse">
            <a:avLst/>
          </a:prstGeom>
          <a:solidFill>
            <a:srgbClr val="D7DEE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" name="Shape 4"/>
          <p:cNvSpPr/>
          <p:nvPr/>
        </p:nvSpPr>
        <p:spPr>
          <a:xfrm>
            <a:off x="1024128" y="6492240"/>
            <a:ext cx="82296" cy="82296"/>
          </a:xfrm>
          <a:prstGeom prst="ellipse">
            <a:avLst/>
          </a:prstGeom>
          <a:solidFill>
            <a:srgbClr val="D7DEE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Shape 5"/>
          <p:cNvSpPr/>
          <p:nvPr/>
        </p:nvSpPr>
        <p:spPr>
          <a:xfrm>
            <a:off x="1225296" y="6492240"/>
            <a:ext cx="82296" cy="82296"/>
          </a:xfrm>
          <a:prstGeom prst="ellipse">
            <a:avLst/>
          </a:prstGeom>
          <a:solidFill>
            <a:srgbClr val="D7DEE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Shape 6"/>
          <p:cNvSpPr/>
          <p:nvPr/>
        </p:nvSpPr>
        <p:spPr>
          <a:xfrm>
            <a:off x="1426464" y="6492240"/>
            <a:ext cx="82296" cy="82296"/>
          </a:xfrm>
          <a:prstGeom prst="ellipse">
            <a:avLst/>
          </a:prstGeom>
          <a:solidFill>
            <a:srgbClr val="3FC1C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4" name="Shape 7"/>
          <p:cNvSpPr/>
          <p:nvPr/>
        </p:nvSpPr>
        <p:spPr>
          <a:xfrm>
            <a:off x="1627632" y="6492240"/>
            <a:ext cx="82296" cy="82296"/>
          </a:xfrm>
          <a:prstGeom prst="ellipse">
            <a:avLst/>
          </a:prstGeom>
          <a:solidFill>
            <a:srgbClr val="D7DEE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5" name="Text 8"/>
          <p:cNvSpPr/>
          <p:nvPr/>
        </p:nvSpPr>
        <p:spPr>
          <a:xfrm>
            <a:off x="433189" y="2623008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600" b="1" i="1" dirty="0">
                <a:solidFill>
                  <a:srgbClr val="1B4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ELECTRÓNICA EN</a:t>
            </a:r>
            <a:endParaRPr lang="en-US" sz="2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2600" b="1" i="1" dirty="0">
                <a:solidFill>
                  <a:srgbClr val="1B4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COTIDIANO</a:t>
            </a:r>
            <a:endParaRPr lang="en-US" sz="2600" dirty="0"/>
          </a:p>
        </p:txBody>
      </p:sp>
      <p:sp>
        <p:nvSpPr>
          <p:cNvPr id="16" name="Text 9"/>
          <p:cNvSpPr/>
          <p:nvPr/>
        </p:nvSpPr>
        <p:spPr>
          <a:xfrm>
            <a:off x="822960" y="3520440"/>
            <a:ext cx="4119846" cy="2464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endParaRPr lang="en-US" sz="12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B4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alarma, el cargador, la cafetera, el microondas, el semáforo, la tarjeta con la que pagás el colectivo. </a:t>
            </a: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B4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</a:t>
            </a:r>
            <a:r>
              <a:rPr lang="en-US" sz="2400" b="1" dirty="0" err="1">
                <a:solidFill>
                  <a:srgbClr val="1B4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tiene</a:t>
            </a:r>
            <a:r>
              <a:rPr lang="en-US" sz="2400" b="1" dirty="0">
                <a:solidFill>
                  <a:srgbClr val="1B4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electronica </a:t>
            </a:r>
            <a:r>
              <a:rPr lang="en-US" sz="2400" b="1" dirty="0" err="1">
                <a:solidFill>
                  <a:srgbClr val="1B4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adentro</a:t>
            </a:r>
            <a:r>
              <a:rPr lang="en-US" sz="2400" b="1" dirty="0">
                <a:solidFill>
                  <a:srgbClr val="1B4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  <p:sp>
        <p:nvSpPr>
          <p:cNvPr id="18" name="Shape 11"/>
          <p:cNvSpPr/>
          <p:nvPr/>
        </p:nvSpPr>
        <p:spPr>
          <a:xfrm>
            <a:off x="5716118" y="2366128"/>
            <a:ext cx="5403689" cy="3618929"/>
          </a:xfrm>
          <a:prstGeom prst="roundRect">
            <a:avLst>
              <a:gd name="adj" fmla="val 4444"/>
            </a:avLst>
          </a:prstGeom>
          <a:solidFill>
            <a:srgbClr val="EAF1F5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2360" y="1325880"/>
            <a:ext cx="3566160" cy="2770632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FBC53AB9-287C-DBD7-EBF5-B835E8E048B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05323" y="2503497"/>
            <a:ext cx="5995134" cy="33738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alphaModFix amt="8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1463040" y="-1463040"/>
            <a:ext cx="3291840" cy="3291840"/>
          </a:xfrm>
          <a:prstGeom prst="ellipse">
            <a:avLst/>
          </a:prstGeom>
          <a:solidFill>
            <a:srgbClr val="2E7BC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Shape 1"/>
          <p:cNvSpPr/>
          <p:nvPr/>
        </p:nvSpPr>
        <p:spPr>
          <a:xfrm>
            <a:off x="-1005840" y="-1005840"/>
            <a:ext cx="2377440" cy="2377440"/>
          </a:xfrm>
          <a:prstGeom prst="ellipse">
            <a:avLst/>
          </a:prstGeom>
          <a:solidFill>
            <a:srgbClr val="3FC1C9">
              <a:alpha val="85000"/>
            </a:srgbClr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alphaModFix amt="9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91440" y="-91440"/>
            <a:ext cx="2194560" cy="1709928"/>
          </a:xfrm>
          <a:prstGeom prst="rect">
            <a:avLst/>
          </a:prstGeom>
        </p:spPr>
      </p:pic>
      <p:pic>
        <p:nvPicPr>
          <p:cNvPr id="6" name="Image 2" descr="/home/claude/leccion_intro/logo-ingelearn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811512" y="365760"/>
            <a:ext cx="1828800" cy="71323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822960" y="6446520"/>
            <a:ext cx="82296" cy="82296"/>
          </a:xfrm>
          <a:prstGeom prst="ellipse">
            <a:avLst/>
          </a:prstGeom>
          <a:solidFill>
            <a:srgbClr val="D7DEE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Shape 3"/>
          <p:cNvSpPr/>
          <p:nvPr/>
        </p:nvSpPr>
        <p:spPr>
          <a:xfrm>
            <a:off x="1024128" y="6446520"/>
            <a:ext cx="82296" cy="82296"/>
          </a:xfrm>
          <a:prstGeom prst="ellipse">
            <a:avLst/>
          </a:prstGeom>
          <a:solidFill>
            <a:srgbClr val="D7DEE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Shape 4"/>
          <p:cNvSpPr/>
          <p:nvPr/>
        </p:nvSpPr>
        <p:spPr>
          <a:xfrm>
            <a:off x="1225296" y="6446520"/>
            <a:ext cx="82296" cy="82296"/>
          </a:xfrm>
          <a:prstGeom prst="ellipse">
            <a:avLst/>
          </a:prstGeom>
          <a:solidFill>
            <a:srgbClr val="D7DEE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Shape 5"/>
          <p:cNvSpPr/>
          <p:nvPr/>
        </p:nvSpPr>
        <p:spPr>
          <a:xfrm>
            <a:off x="1426464" y="6446520"/>
            <a:ext cx="82296" cy="82296"/>
          </a:xfrm>
          <a:prstGeom prst="ellipse">
            <a:avLst/>
          </a:prstGeom>
          <a:solidFill>
            <a:srgbClr val="D7DEE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" name="Shape 6"/>
          <p:cNvSpPr/>
          <p:nvPr/>
        </p:nvSpPr>
        <p:spPr>
          <a:xfrm>
            <a:off x="1627632" y="6446520"/>
            <a:ext cx="82296" cy="82296"/>
          </a:xfrm>
          <a:prstGeom prst="ellipse">
            <a:avLst/>
          </a:prstGeom>
          <a:solidFill>
            <a:srgbClr val="3FC1C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7"/>
          <p:cNvSpPr/>
          <p:nvPr/>
        </p:nvSpPr>
        <p:spPr>
          <a:xfrm>
            <a:off x="548640" y="50292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3000" b="1" i="1" dirty="0">
                <a:solidFill>
                  <a:srgbClr val="1B4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ÁREAS DE APLICACIÓN DE LA</a:t>
            </a:r>
            <a:endParaRPr lang="en-US" sz="3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3000" b="1" i="1" dirty="0">
                <a:solidFill>
                  <a:srgbClr val="1B4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ELECTRÓNICA INDUSTRIAL</a:t>
            </a:r>
            <a:endParaRPr lang="en-US" sz="3000" dirty="0"/>
          </a:p>
        </p:txBody>
      </p:sp>
      <p:sp>
        <p:nvSpPr>
          <p:cNvPr id="13" name="Text 8"/>
          <p:cNvSpPr/>
          <p:nvPr/>
        </p:nvSpPr>
        <p:spPr>
          <a:xfrm>
            <a:off x="1097280" y="178308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5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electrónica industrial es la columna vertebral de cómo se produce hoy en día. Se concentra en cuatro grandes frentes: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563728" y="2455164"/>
            <a:ext cx="2606040" cy="3154680"/>
          </a:xfrm>
          <a:prstGeom prst="roundRect">
            <a:avLst>
              <a:gd name="adj" fmla="val 5263"/>
            </a:avLst>
          </a:prstGeom>
          <a:solidFill>
            <a:srgbClr val="EAF1F5"/>
          </a:solidFill>
          <a:ln w="12700">
            <a:solidFill>
              <a:srgbClr val="E3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0908" y="2560320"/>
            <a:ext cx="1965960" cy="17373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95148" y="565099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4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Automatización de procesos industriales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3375508" y="2331720"/>
            <a:ext cx="2606040" cy="3154680"/>
          </a:xfrm>
          <a:prstGeom prst="roundRect">
            <a:avLst>
              <a:gd name="adj" fmla="val 5263"/>
            </a:avLst>
          </a:prstGeom>
          <a:solidFill>
            <a:srgbClr val="EAF1F5"/>
          </a:solidFill>
          <a:ln w="12700">
            <a:solidFill>
              <a:srgbClr val="E3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95548" y="2560320"/>
            <a:ext cx="1965960" cy="17373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329788" y="565099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4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y monitoreo de procesos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6210148" y="2331720"/>
            <a:ext cx="2606040" cy="3154680"/>
          </a:xfrm>
          <a:prstGeom prst="roundRect">
            <a:avLst>
              <a:gd name="adj" fmla="val 5263"/>
            </a:avLst>
          </a:prstGeom>
          <a:solidFill>
            <a:srgbClr val="EAF1F5"/>
          </a:solidFill>
          <a:ln w="12700">
            <a:solidFill>
              <a:srgbClr val="E3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30188" y="2560320"/>
            <a:ext cx="1965960" cy="173736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164428" y="565099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4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de seguridad y prevención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9044788" y="2331720"/>
            <a:ext cx="2606040" cy="3154680"/>
          </a:xfrm>
          <a:prstGeom prst="roundRect">
            <a:avLst>
              <a:gd name="adj" fmla="val 5263"/>
            </a:avLst>
          </a:prstGeom>
          <a:solidFill>
            <a:srgbClr val="EAF1F5"/>
          </a:solidFill>
          <a:ln w="12700">
            <a:solidFill>
              <a:srgbClr val="E3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64828" y="2560320"/>
            <a:ext cx="1965960" cy="173736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8999068" y="565099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4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de comunicación</a:t>
            </a:r>
            <a:endParaRPr lang="en-US" sz="1300" dirty="0"/>
          </a:p>
        </p:txBody>
      </p:sp>
      <p:pic>
        <p:nvPicPr>
          <p:cNvPr id="31" name="Imagen 30" descr="Qué es la automatización industrial de procesos? | UNIR">
            <a:extLst>
              <a:ext uri="{FF2B5EF4-FFF2-40B4-BE49-F238E27FC236}">
                <a16:creationId xmlns:a16="http://schemas.microsoft.com/office/drawing/2014/main" id="{B4296ADB-41A2-2D67-FF9C-74B37A08C6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638" y="3266446"/>
            <a:ext cx="2420219" cy="1360418"/>
          </a:xfrm>
          <a:prstGeom prst="rect">
            <a:avLst/>
          </a:prstGeom>
        </p:spPr>
      </p:pic>
      <p:pic>
        <p:nvPicPr>
          <p:cNvPr id="32" name="Imagen 31" descr="Monitoreo de Máquinas Industriales: La Solución para Aumentar Tu  Productividad">
            <a:extLst>
              <a:ext uri="{FF2B5EF4-FFF2-40B4-BE49-F238E27FC236}">
                <a16:creationId xmlns:a16="http://schemas.microsoft.com/office/drawing/2014/main" id="{422BC7D5-F95A-A4A9-D1C9-6FCC7B6C2F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2559" y="3339299"/>
            <a:ext cx="2491937" cy="1304113"/>
          </a:xfrm>
          <a:prstGeom prst="rect">
            <a:avLst/>
          </a:prstGeom>
        </p:spPr>
      </p:pic>
      <p:pic>
        <p:nvPicPr>
          <p:cNvPr id="33" name="Imagen 32" descr="Ciberseguridad en los sistemas electrónicos de seguridad">
            <a:extLst>
              <a:ext uri="{FF2B5EF4-FFF2-40B4-BE49-F238E27FC236}">
                <a16:creationId xmlns:a16="http://schemas.microsoft.com/office/drawing/2014/main" id="{A3A83D15-DDB7-114D-9B49-7DE23645E0C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0434" y="3221243"/>
            <a:ext cx="2506196" cy="1670797"/>
          </a:xfrm>
          <a:prstGeom prst="rect">
            <a:avLst/>
          </a:prstGeom>
        </p:spPr>
      </p:pic>
      <p:pic>
        <p:nvPicPr>
          <p:cNvPr id="34" name="Imagen 33" descr="fotográfico documentación de telecomunicaciones antenas y datos  intercambiar 27090594 Foto de stock en Vecteezy">
            <a:extLst>
              <a:ext uri="{FF2B5EF4-FFF2-40B4-BE49-F238E27FC236}">
                <a16:creationId xmlns:a16="http://schemas.microsoft.com/office/drawing/2014/main" id="{CF6770E7-02F5-0E0C-1078-ED76CC3C54B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65108" y="2560320"/>
            <a:ext cx="1848695" cy="27702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111</Words>
  <Application>Microsoft Office PowerPoint</Application>
  <PresentationFormat>Panorámica</PresentationFormat>
  <Paragraphs>21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IEL-0102 - Introduccion a la electronica</dc:title>
  <dc:subject>PptxGenJS Presentation</dc:subject>
  <dc:creator>Ingelearn</dc:creator>
  <cp:lastModifiedBy>german gonzalez</cp:lastModifiedBy>
  <cp:revision>5</cp:revision>
  <dcterms:created xsi:type="dcterms:W3CDTF">2026-06-23T20:20:19Z</dcterms:created>
  <dcterms:modified xsi:type="dcterms:W3CDTF">2026-06-23T21:33:53Z</dcterms:modified>
</cp:coreProperties>
</file>